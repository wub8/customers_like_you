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84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208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87F8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126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5D0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GIFT LANE  /  MINI-PROJECT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207008"/>
            <a:ext cx="6858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</a:t>
            </a:r>
            <a:endParaRPr lang="en-US" sz="5000" dirty="0"/>
          </a:p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 You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13232" y="3182112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7E6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recommendations and customer groups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D7E6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PCA and Truncated SVD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04088" y="4700016"/>
            <a:ext cx="6620256" cy="841248"/>
          </a:xfrm>
          <a:prstGeom prst="roundRect">
            <a:avLst>
              <a:gd name="adj" fmla="val 16304"/>
            </a:avLst>
          </a:prstGeom>
          <a:solidFill>
            <a:srgbClr val="254356"/>
          </a:solidFill>
          <a:ln w="12700">
            <a:solidFill>
              <a:srgbClr val="25435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4892040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A0E3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5138928"/>
            <a:ext cx="6172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best sellers until personalization improves.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82712" y="124358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55B7B4"/>
          </a:solidFill>
          <a:ln w="12700">
            <a:solidFill>
              <a:srgbClr val="55B7B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62772" y="124358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42832" y="124358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22892" y="124358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02952" y="124358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3012" y="124358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63072" y="124358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82712" y="172364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62772" y="172364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42832" y="172364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22892" y="172364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02952" y="172364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83012" y="172364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55B7B4"/>
          </a:solidFill>
          <a:ln w="12700">
            <a:solidFill>
              <a:srgbClr val="55B7B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63072" y="172364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82712" y="220370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62772" y="220370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42832" y="220370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55B7B4"/>
          </a:solidFill>
          <a:ln w="12700">
            <a:solidFill>
              <a:srgbClr val="55B7B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22892" y="220370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02952" y="220370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83012" y="220370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63072" y="220370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82712" y="268376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62772" y="268376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42832" y="268376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22892" y="268376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55B7B4"/>
          </a:solidFill>
          <a:ln w="12700">
            <a:solidFill>
              <a:srgbClr val="55B7B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02952" y="268376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83012" y="268376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63072" y="268376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82712" y="316382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62772" y="316382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42832" y="316382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22892" y="316382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02952" y="316382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55B7B4"/>
          </a:solidFill>
          <a:ln w="12700">
            <a:solidFill>
              <a:srgbClr val="55B7B4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383012" y="316382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316382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82712" y="364388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62772" y="364388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364388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22892" y="364388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02952" y="364388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83012" y="364388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55B7B4"/>
          </a:solidFill>
          <a:ln w="12700">
            <a:solidFill>
              <a:srgbClr val="55B7B4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63072" y="364388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82712" y="412394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62772" y="412394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42832" y="412394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55B7B4"/>
          </a:solidFill>
          <a:ln w="12700">
            <a:solidFill>
              <a:srgbClr val="55B7B4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22892" y="412394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902952" y="412394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83012" y="412394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863072" y="412394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982712" y="460400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62772" y="460400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942832" y="460400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422892" y="460400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55B7B4"/>
          </a:solidFill>
          <a:ln w="12700">
            <a:solidFill>
              <a:srgbClr val="55B7B4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902952" y="460400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383012" y="460400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863072" y="460400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82712" y="508406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55B7B4"/>
          </a:solidFill>
          <a:ln w="12700">
            <a:solidFill>
              <a:srgbClr val="55B7B4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62772" y="508406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42832" y="508406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22892" y="508406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902952" y="508406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355065"/>
          </a:solidFill>
          <a:ln w="12700">
            <a:solidFill>
              <a:srgbClr val="355065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83012" y="508406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863072" y="5084064"/>
            <a:ext cx="370332" cy="370332"/>
          </a:xfrm>
          <a:prstGeom prst="roundRect">
            <a:avLst>
              <a:gd name="adj" fmla="val 13580"/>
            </a:avLst>
          </a:prstGeom>
          <a:solidFill>
            <a:srgbClr val="168291"/>
          </a:solidFill>
          <a:ln w="12700">
            <a:solidFill>
              <a:srgbClr val="168291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18120" y="5870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4DC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Sparse purchases → latent factors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13232" y="63276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C4D5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project  •  13 October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REQUEST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38360" y="27432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MINI-PROJECT 01  / 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business questions, one measurement-driven pilot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UCI Online Retail II (Chen, 2012) • Train-only model, future-purchase holdout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82528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554480"/>
            <a:ext cx="5486400" cy="21488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554480"/>
            <a:ext cx="53035" cy="2148840"/>
          </a:xfrm>
          <a:prstGeom prst="rect">
            <a:avLst/>
          </a:prstGeom>
          <a:solidFill>
            <a:srgbClr val="087F8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76479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Product recommendations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86384" y="2221992"/>
            <a:ext cx="505663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a compact customer–product representation generate useful “customers also bought” suggestions?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349240" cy="2148840"/>
          </a:xfrm>
          <a:prstGeom prst="roundRect">
            <a:avLst>
              <a:gd name="adj" fmla="val 7660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554480"/>
            <a:ext cx="53035" cy="2148840"/>
          </a:xfrm>
          <a:prstGeom prst="rect">
            <a:avLst/>
          </a:prstGeom>
          <a:solidFill>
            <a:srgbClr val="8373B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17647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Marketing segments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83096" y="2221992"/>
            <a:ext cx="491947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customer purchase patterns be summarized in a simple map with understandable groups?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40965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means more than a smaller model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66928" y="4681728"/>
            <a:ext cx="2651760" cy="1060704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809744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" y="50840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13232" y="54498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1.83 MB factors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92424" y="4681728"/>
            <a:ext cx="2651760" cy="1060704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38728" y="4809744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38728" y="50840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Promising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3538728" y="54498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0.129 s compute*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681728"/>
            <a:ext cx="2651760" cy="1060704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4809744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ACCURATE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64224" y="50840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557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yet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364224" y="54498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24.05% vs 26.87%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43416" y="4681728"/>
            <a:ext cx="2651760" cy="1060704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0" y="4809744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89720" y="50840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189720" y="54498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customer groups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59893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Model fit + neighbor refresh + test-customer scoring; excludes Excel reading and disk I/O.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38360" y="27432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MINI-PROJECT 01  / 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transactions to a leak-free purchase matrix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UCI Online Retail II (Chen, 2012) • Train-only model, future-purchase holdout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82528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2606040" cy="1938528"/>
          </a:xfrm>
          <a:prstGeom prst="roundRect">
            <a:avLst>
              <a:gd name="adj" fmla="val 6132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LOG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2585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1,067,371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31520" y="2843784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 lines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26440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annual sheets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72968" y="241401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3374136" y="1737360"/>
            <a:ext cx="2606040" cy="1938528"/>
          </a:xfrm>
          <a:prstGeom prst="roundRect">
            <a:avLst>
              <a:gd name="adj" fmla="val 6132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8728" y="19202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SALES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38728" y="22585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801,559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3538728" y="2843784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invoice lines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38728" y="326440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non-purchases excluded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0176" y="241401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6181344" y="1737360"/>
            <a:ext cx="2606040" cy="1938528"/>
          </a:xfrm>
          <a:prstGeom prst="roundRect">
            <a:avLst>
              <a:gd name="adj" fmla="val 6132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19202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MATRIX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45936" y="22585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5,473 × 3,684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6345936" y="2843784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× products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45936" y="326440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97.95% zeros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87384" y="241401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8988552" y="1737360"/>
            <a:ext cx="2606040" cy="1938528"/>
          </a:xfrm>
          <a:prstGeom prst="roundRect">
            <a:avLst>
              <a:gd name="adj" fmla="val 6132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3144" y="19202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HOLDOUT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53144" y="225856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1,913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9153144" y="2843784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eligible customers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53144" y="326440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44,714 novel item pairs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" y="4096512"/>
            <a:ext cx="6656832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432511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 rules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795528" y="4782312"/>
            <a:ext cx="6108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cancellations, nonpositive quantities/prices, non-product codes, and missing customer IDs. Keep only paid, identifiable product purchases.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434072" y="4096512"/>
            <a:ext cx="4178808" cy="1627632"/>
          </a:xfrm>
          <a:prstGeom prst="roundRect">
            <a:avLst>
              <a:gd name="adj" fmla="val 7865"/>
            </a:avLst>
          </a:prstGeom>
          <a:solidFill>
            <a:srgbClr val="DDF1F2"/>
          </a:solidFill>
          <a:ln w="12700">
            <a:solidFill>
              <a:srgbClr val="DDF1F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436168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future leakage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680960" y="4828032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two months held out before fitting. Test targets are products each eligible customer had not previously bought.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5216" y="600760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cutoff: 9 Oct 2011, 12:50  •  Purchase value: binary (ever bought)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 CHOICE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38360" y="27432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MINI-PROJECT 01  / 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Truncated SVD, and why 50 components?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UCI Online Retail II (Chen, 2012) • Train-only model, future-purchase holdout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82528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508760"/>
            <a:ext cx="7424928" cy="4498848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pic>
        <p:nvPicPr>
          <p:cNvPr id="9" name="Image 0" descr="/mnt/data/Customers_Like_You/figures/svd_erro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73352"/>
            <a:ext cx="7132320" cy="41879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508760"/>
            <a:ext cx="3383280" cy="4498848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76488" y="1755648"/>
            <a:ext cx="2267712" cy="310896"/>
          </a:xfrm>
          <a:prstGeom prst="roundRect">
            <a:avLst>
              <a:gd name="adj" fmla="val 38235"/>
            </a:avLst>
          </a:prstGeom>
          <a:solidFill>
            <a:srgbClr val="DDF1F2"/>
          </a:solidFill>
          <a:ln w="12700">
            <a:solidFill>
              <a:srgbClr val="DDF1F2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7928" y="1805940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MODEL: SVD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476488" y="2313432"/>
            <a:ext cx="28072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Sparse by design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476488" y="2715768"/>
            <a:ext cx="2816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SVD operates on the original sparse purchase matrix without subtracting product means.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476488" y="3675888"/>
            <a:ext cx="2880360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76488" y="388620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= 50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8476488" y="4434840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Relative reconstruction error 0.832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476488" y="5065776"/>
            <a:ext cx="2825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components reduce information loss but require greater storage and computation.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8368" y="6108192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chosen as a fixed compact setting, not a validation-optimized parameter.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VS SVD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38360" y="27432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MINI-PROJECT 01  / 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SVD is slightly leaner; PCA is marginally more accurate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UCI Online Retail II (Chen, 2012) • Train-only model, future-purchase holdout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82528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7543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1700784"/>
            <a:ext cx="7205472" cy="502920"/>
          </a:xfrm>
          <a:prstGeom prst="roundRect">
            <a:avLst>
              <a:gd name="adj" fmla="val 13636"/>
            </a:avLst>
          </a:prstGeom>
          <a:solidFill>
            <a:srgbClr val="DDF1F2"/>
          </a:solidFill>
          <a:ln w="12700">
            <a:solidFill>
              <a:srgbClr val="DDF1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82422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73168" y="1824228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Truncated SVD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18242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976" y="229514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 time (seconds)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37176" y="229514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0.0569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19672" y="2295144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0.0853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2807208"/>
            <a:ext cx="7123176" cy="502920"/>
          </a:xfrm>
          <a:prstGeom prst="roundRect">
            <a:avLst>
              <a:gd name="adj" fmla="val 3636"/>
            </a:avLst>
          </a:prstGeom>
          <a:solidFill>
            <a:srgbClr val="F6F9FA"/>
          </a:solidFill>
          <a:ln w="12700">
            <a:solidFill>
              <a:srgbClr val="F6F9F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284378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Observed peak process RSS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37176" y="284378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448.84 MB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9672" y="2843784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467.89 MB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0976" y="339242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 storage (float32)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37176" y="339242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1.831 MB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19672" y="3392424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1.846 MB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" y="3904488"/>
            <a:ext cx="7123176" cy="502920"/>
          </a:xfrm>
          <a:prstGeom prst="roundRect">
            <a:avLst>
              <a:gd name="adj" fmla="val 3636"/>
            </a:avLst>
          </a:prstGeom>
          <a:solidFill>
            <a:srgbClr val="F6F9FA"/>
          </a:solidFill>
          <a:ln w="12700">
            <a:solidFill>
              <a:srgbClr val="F6F9F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394106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Relative reconstruction error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37176" y="39410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0.8323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3941064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0.8316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0976" y="448970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Explained variance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37176" y="448970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27.30%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19672" y="4489704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27.41%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9808" y="5001768"/>
            <a:ext cx="7123176" cy="502920"/>
          </a:xfrm>
          <a:prstGeom prst="roundRect">
            <a:avLst>
              <a:gd name="adj" fmla="val 3636"/>
            </a:avLst>
          </a:prstGeom>
          <a:solidFill>
            <a:srgbClr val="F6F9FA"/>
          </a:solidFill>
          <a:ln w="12700">
            <a:solidFill>
              <a:srgbClr val="F6F9F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" y="503834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Hit rate @ 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37176" y="503834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24.05%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19672" y="5038344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24.10%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39328" y="1481328"/>
            <a:ext cx="3282696" cy="4526280"/>
          </a:xfrm>
          <a:prstGeom prst="roundRect">
            <a:avLst>
              <a:gd name="adj" fmla="val 3343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0" y="1764792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Stored data size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613648" y="2359152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 matrix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424160" y="235915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161.30 MB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13648" y="2697480"/>
            <a:ext cx="2615184" cy="201168"/>
          </a:xfrm>
          <a:prstGeom prst="roundRect">
            <a:avLst>
              <a:gd name="adj" fmla="val 18182"/>
            </a:avLst>
          </a:prstGeom>
          <a:solidFill>
            <a:srgbClr val="8F9DA8"/>
          </a:solidFill>
          <a:ln w="12700">
            <a:solidFill>
              <a:srgbClr val="8F9DA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13648" y="329184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Sparse matrix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424160" y="329184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3.33 MB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613648" y="3630168"/>
            <a:ext cx="310109" cy="201168"/>
          </a:xfrm>
          <a:prstGeom prst="roundRect">
            <a:avLst>
              <a:gd name="adj" fmla="val 18182"/>
            </a:avLst>
          </a:prstGeom>
          <a:solidFill>
            <a:srgbClr val="8373B2"/>
          </a:solidFill>
          <a:ln w="12700">
            <a:solidFill>
              <a:srgbClr val="8373B2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13648" y="422452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SVD factors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424160" y="4224528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1.83 MB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613648" y="4562856"/>
            <a:ext cx="288221" cy="201168"/>
          </a:xfrm>
          <a:prstGeom prst="roundRect">
            <a:avLst>
              <a:gd name="adj" fmla="val 18182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77072" y="5056632"/>
            <a:ext cx="2752344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13648" y="520293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88× smaller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8622792" y="5596128"/>
            <a:ext cx="2624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 a dense float64 matrix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4360" y="6126480"/>
            <a:ext cx="9235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“Peak memory” is process-wide RSS, not method-only memory.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 EVALUATION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38360" y="27432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MINI-PROJECT 01  / 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best-seller baseline wins on future purchases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UCI Online Retail II (Chen, 2012) • Train-only model, future-purchase holdout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82528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499616"/>
            <a:ext cx="11045952" cy="585216"/>
          </a:xfrm>
          <a:prstGeom prst="roundRect">
            <a:avLst>
              <a:gd name="adj" fmla="val 17188"/>
            </a:avLst>
          </a:prstGeom>
          <a:solidFill>
            <a:srgbClr val="DDF1F2"/>
          </a:solidFill>
          <a:ln w="12700">
            <a:solidFill>
              <a:srgbClr val="DDF1F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636776"/>
            <a:ext cx="10533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31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Test: 1,913 eligible customers  ·  Success = at least one held-out new product in top 10  ·  Purchased items excluded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43584" y="5577840"/>
            <a:ext cx="9637776" cy="0"/>
          </a:xfrm>
          <a:prstGeom prst="line">
            <a:avLst/>
          </a:prstGeom>
          <a:noFill/>
          <a:ln w="10160">
            <a:solidFill>
              <a:srgbClr val="DD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545896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43584" y="4550664"/>
            <a:ext cx="9637776" cy="0"/>
          </a:xfrm>
          <a:prstGeom prst="line">
            <a:avLst/>
          </a:prstGeom>
          <a:noFill/>
          <a:ln w="10160">
            <a:solidFill>
              <a:srgbClr val="DD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443179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43584" y="3523488"/>
            <a:ext cx="9637776" cy="0"/>
          </a:xfrm>
          <a:prstGeom prst="line">
            <a:avLst/>
          </a:prstGeom>
          <a:noFill/>
          <a:ln w="10160">
            <a:solidFill>
              <a:srgbClr val="DD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40461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43584" y="2496312"/>
            <a:ext cx="9637776" cy="0"/>
          </a:xfrm>
          <a:prstGeom prst="line">
            <a:avLst/>
          </a:prstGeom>
          <a:noFill/>
          <a:ln w="10160">
            <a:solidFill>
              <a:srgbClr val="DD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37744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30552" y="2817818"/>
            <a:ext cx="1993392" cy="2760022"/>
          </a:xfrm>
          <a:prstGeom prst="roundRect">
            <a:avLst>
              <a:gd name="adj" fmla="val 2752"/>
            </a:avLst>
          </a:prstGeom>
          <a:solidFill>
            <a:srgbClr val="8F9DA8"/>
          </a:solidFill>
          <a:ln w="12700">
            <a:solidFill>
              <a:srgbClr val="8F9DA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0552" y="235147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26.87%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965960" y="573328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sellers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93392" y="6053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514 customers hit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10912" y="3107482"/>
            <a:ext cx="1993392" cy="2470358"/>
          </a:xfrm>
          <a:prstGeom prst="roundRect">
            <a:avLst>
              <a:gd name="adj" fmla="val 2752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64113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24.05%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846320" y="573328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Truncated SVD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752" y="6053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460 customers hit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91272" y="3102346"/>
            <a:ext cx="1993392" cy="2475494"/>
          </a:xfrm>
          <a:prstGeom prst="roundRect">
            <a:avLst>
              <a:gd name="adj" fmla="val 2752"/>
            </a:avLst>
          </a:prstGeom>
          <a:solidFill>
            <a:srgbClr val="8373B2"/>
          </a:solidFill>
          <a:ln w="12700">
            <a:solidFill>
              <a:srgbClr val="8373B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91272" y="263600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24.10%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726680" y="573328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54112" y="6053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461 customers hit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902952" y="2331720"/>
            <a:ext cx="1527048" cy="521208"/>
          </a:xfrm>
          <a:prstGeom prst="roundRect">
            <a:avLst>
              <a:gd name="adj" fmla="val 21053"/>
            </a:avLst>
          </a:prstGeom>
          <a:solidFill>
            <a:srgbClr val="F8E9E2"/>
          </a:solidFill>
          <a:ln w="12700">
            <a:solidFill>
              <a:srgbClr val="F8E9E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30968" y="246888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57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−2.82 pp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57816" y="2907792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SVD vs. baseline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6245352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replacement recommendation: model does not improve Hit@10 on this holdout.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38360" y="27432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MINI-PROJECT 01  /  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exploratory customer groups for marketing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UCI Online Retail II (Chen, 2012) • Train-only model, future-purchase holdout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82528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93776" y="1472184"/>
            <a:ext cx="8001000" cy="4526280"/>
          </a:xfrm>
          <a:prstGeom prst="roundRect">
            <a:avLst>
              <a:gd name="adj" fmla="val 2626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pic>
        <p:nvPicPr>
          <p:cNvPr id="9" name="Image 0" descr="/mnt/data/Customers_Like_You/figures/customer_map_scatter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618488"/>
            <a:ext cx="7754112" cy="41879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741664" y="1481328"/>
            <a:ext cx="2889504" cy="941832"/>
          </a:xfrm>
          <a:prstGeom prst="roundRect">
            <a:avLst>
              <a:gd name="adj" fmla="val 10680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860536" y="1645920"/>
            <a:ext cx="68580" cy="603504"/>
          </a:xfrm>
          <a:prstGeom prst="roundRect">
            <a:avLst>
              <a:gd name="adj" fmla="val 33333"/>
            </a:avLst>
          </a:prstGeom>
          <a:solidFill>
            <a:srgbClr val="087F8C"/>
          </a:solidFill>
          <a:ln w="12700">
            <a:solidFill>
              <a:srgbClr val="087F8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52560" y="15910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Occasional mixed-gift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052560" y="1847088"/>
            <a:ext cx="2386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4,026  ·  73.6%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052560" y="2139696"/>
            <a:ext cx="2441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Heart holders • gift assortment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741664" y="2514600"/>
            <a:ext cx="2889504" cy="941832"/>
          </a:xfrm>
          <a:prstGeom prst="roundRect">
            <a:avLst>
              <a:gd name="adj" fmla="val 10680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860536" y="2679192"/>
            <a:ext cx="68580" cy="603504"/>
          </a:xfrm>
          <a:prstGeom prst="roundRect">
            <a:avLst>
              <a:gd name="adj" fmla="val 33333"/>
            </a:avLst>
          </a:prstGeom>
          <a:solidFill>
            <a:srgbClr val="E9A15F"/>
          </a:solidFill>
          <a:ln w="12700">
            <a:solidFill>
              <a:srgbClr val="E9A15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52560" y="262432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Lunch-bag &amp; partyware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052560" y="2880360"/>
            <a:ext cx="2386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9A1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510  ·  9.3%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052560" y="3172968"/>
            <a:ext cx="2441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Lunch bags • party supplies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741664" y="3547872"/>
            <a:ext cx="2889504" cy="941832"/>
          </a:xfrm>
          <a:prstGeom prst="roundRect">
            <a:avLst>
              <a:gd name="adj" fmla="val 10680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860536" y="3712464"/>
            <a:ext cx="68580" cy="603504"/>
          </a:xfrm>
          <a:prstGeom prst="roundRect">
            <a:avLst>
              <a:gd name="adj" fmla="val 33333"/>
            </a:avLst>
          </a:prstGeom>
          <a:solidFill>
            <a:srgbClr val="8373B2"/>
          </a:solidFill>
          <a:ln w="12700">
            <a:solidFill>
              <a:srgbClr val="8373B2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52560" y="36576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Broad-catalog gifts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52560" y="3913632"/>
            <a:ext cx="2386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37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145  ·  2.6%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052560" y="4206240"/>
            <a:ext cx="2441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 variety of product types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741664" y="4581144"/>
            <a:ext cx="2889504" cy="941832"/>
          </a:xfrm>
          <a:prstGeom prst="roundRect">
            <a:avLst>
              <a:gd name="adj" fmla="val 10680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860536" y="4745736"/>
            <a:ext cx="68580" cy="603504"/>
          </a:xfrm>
          <a:prstGeom prst="roundRect">
            <a:avLst>
              <a:gd name="adj" fmla="val 33333"/>
            </a:avLst>
          </a:prstGeom>
          <a:solidFill>
            <a:srgbClr val="66A892"/>
          </a:solidFill>
          <a:ln w="12700">
            <a:solidFill>
              <a:srgbClr val="66A892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52560" y="469087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decor regulars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052560" y="4946904"/>
            <a:ext cx="2386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A89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792  ·  14.5%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052560" y="5239512"/>
            <a:ext cx="2441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Wicker hearts • home accents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12648" y="6099048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 names are hypotheses based on training purchases; the majority of each group is UK-based.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51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220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&amp; 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738360" y="27432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MINI-PROJECT 01  /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85800"/>
            <a:ext cx="11109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baseline; use SVD as a research foundation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455664"/>
            <a:ext cx="11045952" cy="0"/>
          </a:xfrm>
          <a:prstGeom prst="line">
            <a:avLst/>
          </a:prstGeom>
          <a:noFill/>
          <a:ln w="12700">
            <a:solidFill>
              <a:srgbClr val="DD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UCI Online Retail II (Chen, 2012) • Train-only model, future-purchase holdout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82528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76072" y="1536192"/>
            <a:ext cx="11027664" cy="1014984"/>
          </a:xfrm>
          <a:prstGeom prst="roundRect">
            <a:avLst>
              <a:gd name="adj" fmla="val 15315"/>
            </a:avLst>
          </a:prstGeom>
          <a:solidFill>
            <a:srgbClr val="172D42"/>
          </a:solidFill>
          <a:ln w="12700">
            <a:solidFill>
              <a:srgbClr val="172D4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7282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10" dirty="0">
                <a:solidFill>
                  <a:srgbClr val="85D5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1746504"/>
            <a:ext cx="82296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deploy SVD recommendations as a replacement yet.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76072" y="2880360"/>
            <a:ext cx="353872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27248"/>
            <a:ext cx="3118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60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WORKED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547872"/>
            <a:ext cx="31455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Compact representation: 1.83 MB factors; SVD fits quickly on this sparse matrix. Four interpretable cluster hypotheses.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34256" y="2880360"/>
            <a:ext cx="353872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3127248"/>
            <a:ext cx="3118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60" dirty="0">
                <a:solidFill>
                  <a:srgbClr val="B557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DID NOT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35424" y="3547872"/>
            <a:ext cx="31455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Hit@10 fell from 26.87% (best sellers) to 24.05% (SVD). Relative reconstruction error 0.832 signals lost detail.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92440" y="2880360"/>
            <a:ext cx="353872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8890">
            <a:solidFill>
              <a:srgbClr val="DD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3127248"/>
            <a:ext cx="3118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60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COULD GO WRONG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93608" y="3547872"/>
            <a:ext cx="31455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133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Cold-start customers/products; nonrandom missing IDs; seasonal timing; historical 2009–2011 data; weak cluster validation.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6072" y="5056632"/>
            <a:ext cx="11027664" cy="832104"/>
          </a:xfrm>
          <a:prstGeom prst="roundRect">
            <a:avLst>
              <a:gd name="adj" fmla="val 14286"/>
            </a:avLst>
          </a:prstGeom>
          <a:solidFill>
            <a:srgbClr val="DDF1F2"/>
          </a:solidFill>
          <a:ln w="12700">
            <a:solidFill>
              <a:srgbClr val="DDF1F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5239512"/>
            <a:ext cx="21305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087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EXPERIMENT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52928" y="5212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D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Tune with a separate validation period; test a popularity–similarity hybrid and time-aware ranking.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2648" y="6126480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374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Integrity: no customer IDs in this deck. Benchmarked compute excludes file loading and disk I/O.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857</Words>
  <Application>Microsoft Office PowerPoint</Application>
  <PresentationFormat>Widescreen</PresentationFormat>
  <Paragraphs>173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Mini-Project 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Customers Like You — Retail Recommendation Pilot</dc:title>
  <dc:subject>Mini-Project 01 — Customers Like You</dc:subject>
  <dc:creator>GiftLane Data &amp; ML</dc:creator>
  <cp:lastModifiedBy>Bijun Wu</cp:lastModifiedBy>
  <cp:revision>1</cp:revision>
  <dcterms:created xsi:type="dcterms:W3CDTF">2026-10-13T17:48:28Z</dcterms:created>
  <dcterms:modified xsi:type="dcterms:W3CDTF">2026-10-13T17:51:58Z</dcterms:modified>
</cp:coreProperties>
</file>